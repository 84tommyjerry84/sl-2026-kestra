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Comptoir des Coteaux • Pipeline Kestra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502920"/>
            <a:ext cx="3291840" cy="3291840"/>
          </a:xfrm>
          <a:prstGeom prst="ellipse">
            <a:avLst/>
          </a:prstGeom>
          <a:solidFill>
            <a:srgbClr val="8B5CF6">
              <a:alpha val="1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1828800"/>
            <a:ext cx="2377440" cy="2377440"/>
          </a:xfrm>
          <a:prstGeom prst="ellipse">
            <a:avLst/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77724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83210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PROJET DATA ENGINEERING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Comptoir des Coteaux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2212848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2E8F0"/>
                </a:solidFill>
              </a:rPr>
              <a:t>Automatisation d’un pipeline mensuel de traitement des ventes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13232" y="32461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</a:rPr>
              <a:t>Kestra • DuckDB • Python / pandas • Docker Compose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01000" y="4206240"/>
            <a:ext cx="960120" cy="566928"/>
          </a:xfrm>
          <a:prstGeom prst="roundRect">
            <a:avLst>
              <a:gd name="adj" fmla="val 6452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43891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ERP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217152" y="4206240"/>
            <a:ext cx="960120" cy="566928"/>
          </a:xfrm>
          <a:prstGeom prst="roundRect">
            <a:avLst>
              <a:gd name="adj" fmla="val 6452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43891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Liaison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433304" y="4206240"/>
            <a:ext cx="960120" cy="566928"/>
          </a:xfrm>
          <a:prstGeom prst="roundRect">
            <a:avLst>
              <a:gd name="adj" fmla="val 6452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33304" y="43891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Web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99448" y="4956048"/>
            <a:ext cx="1097280" cy="438912"/>
          </a:xfrm>
          <a:prstGeom prst="down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5532120"/>
            <a:ext cx="2971800" cy="621792"/>
          </a:xfrm>
          <a:prstGeom prst="roundRect">
            <a:avLst>
              <a:gd name="adj" fmla="val 7353"/>
            </a:avLst>
          </a:prstGeom>
          <a:solidFill>
            <a:srgbClr val="34D399">
              <a:alpha val="12000"/>
            </a:srgbClr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5742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Pipeline automatisé → outputs/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" y="5989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Présentation projet • 2026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Le besoin métier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Automatiser un traitement mensuel auparavant réalisé manuellement.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CONTEXTE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08760"/>
            <a:ext cx="54864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6916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3 sources hétérogènes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2075688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</a:rPr>
              <a:t>ERP, Web et table de liaison.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</a:rPr>
              <a:t>Formats possibles : CSV ou XLSX.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</a:rPr>
              <a:t>Les noms de fichiers peuvent changer.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370832" y="150876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18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508760"/>
            <a:ext cx="54864" cy="1874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916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Traitement mensuel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075688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</a:rPr>
              <a:t>Le pipeline doit être rejouable sans intervention technique complexe et planifié automatiquement le 15 à 09:00.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055864" y="150876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1800000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55864" y="1508760"/>
            <a:ext cx="54864" cy="1874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16916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3 livrables attendus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57032" y="2075688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</a:rPr>
              <a:t>Un rapport Excel du chiffre d’affaires et deux CSV : vins premium / vins ordinaires.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85800" y="3794760"/>
            <a:ext cx="10844784" cy="1664208"/>
          </a:xfrm>
          <a:prstGeom prst="roundRect">
            <a:avLst>
              <a:gd name="adj" fmla="val 4396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096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</a:rPr>
              <a:t>Enjeu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28800" y="4050792"/>
            <a:ext cx="9098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Rendre le traitement fiable, reproductible et contrôlé, sans coder des valeurs de référence en dur dans le pipeline de production.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4754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Les contrôles sont dynamiques : qualité des données, doublons, jointure, chiffre d’affaires et z-score.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Architecture et choix techniques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Kestra orchestre ; la logique métier reste dans SQL et Python.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ARCHITECTURE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1673352"/>
            <a:ext cx="502920" cy="502920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81912" y="1618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Kestra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81912" y="19385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Orchestration, planification, assertions, retries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83096" y="1673352"/>
            <a:ext cx="502920" cy="502920"/>
          </a:xfrm>
          <a:prstGeom prst="ellipse">
            <a:avLst/>
          </a:prstGeom>
          <a:solidFill>
            <a:srgbClr val="FACC15">
              <a:alpha val="88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9752" y="1618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DuckDB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59752" y="19385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Nettoyage, dédoublonnage, jointure, chiffre d’affaires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283464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" y="3090672"/>
            <a:ext cx="502920" cy="50292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81912" y="3035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Python / pandas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581912" y="335584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Détection des sources, préparation, z-score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283464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3096" y="3090672"/>
            <a:ext cx="502920" cy="502920"/>
          </a:xfrm>
          <a:prstGeom prst="ellipse">
            <a:avLst/>
          </a:prstGeom>
          <a:solidFill>
            <a:srgbClr val="34D399">
              <a:alpha val="8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9752" y="3035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Docker Compose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159752" y="335584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Environnement reproductible et exécution locale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85800" y="425196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" y="4507992"/>
            <a:ext cx="502920" cy="502920"/>
          </a:xfrm>
          <a:prstGeom prst="ellipse">
            <a:avLst/>
          </a:prstGeom>
          <a:solidFill>
            <a:srgbClr val="F87171">
              <a:alpha val="88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81912" y="4453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PostgreSQL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581912" y="47731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Stockage interne de Kestra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263640" y="425196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3096" y="4507992"/>
            <a:ext cx="502920" cy="502920"/>
          </a:xfrm>
          <a:prstGeom prst="ellipse">
            <a:avLst/>
          </a:prstGeom>
          <a:solidFill>
            <a:srgbClr val="94A3B8">
              <a:alpha val="88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9752" y="4453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PowerShell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159752" y="47731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Lancement simplifié avec run.ps1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77240" y="58978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59527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Kestra 2.0.3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331720" y="589788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04872" y="5952744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</a:rPr>
              <a:t>PostgreSQL 18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77640" y="589788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0792" y="595274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Python 3.12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40680" y="58978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595274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Docker Compose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Pipeline de bout en bout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chaîne lisible : ingestion → contrôles → calculs → publication.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PIPELINE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276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ERP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CSV / XLSX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4173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6276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Liaison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CSV / XLSX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276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Web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CSV / XLSX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600200"/>
            <a:ext cx="548640" cy="4114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1325880"/>
            <a:ext cx="3794760" cy="9144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651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53528" y="150876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Préparation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53528" y="1892808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Détection du schéma + CSV normalisés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2788920"/>
            <a:ext cx="1965960" cy="1078992"/>
          </a:xfrm>
          <a:prstGeom prst="roundRect">
            <a:avLst>
              <a:gd name="adj" fmla="val 5085"/>
            </a:avLst>
          </a:prstGeom>
          <a:solidFill>
            <a:srgbClr val="111827"/>
          </a:solidFill>
          <a:ln w="16510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297180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Nettoyage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3558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DuckDB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07792" y="2788920"/>
            <a:ext cx="1965960" cy="1078992"/>
          </a:xfrm>
          <a:prstGeom prst="roundRect">
            <a:avLst>
              <a:gd name="adj" fmla="val 5085"/>
            </a:avLst>
          </a:prstGeom>
          <a:solidFill>
            <a:srgbClr val="111827"/>
          </a:solidFill>
          <a:ln w="16510">
            <a:solidFill>
              <a:srgbClr val="FACC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297180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Dédoublonnage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33558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DuckDB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84064" y="2788920"/>
            <a:ext cx="1965960" cy="1078992"/>
          </a:xfrm>
          <a:prstGeom prst="roundRect">
            <a:avLst>
              <a:gd name="adj" fmla="val 5085"/>
            </a:avLst>
          </a:prstGeom>
          <a:solidFill>
            <a:srgbClr val="111827"/>
          </a:solidFill>
          <a:ln w="1651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297180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Fusion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93792" y="33558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ERP + liaison + Web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60336" y="2788920"/>
            <a:ext cx="1965960" cy="1078992"/>
          </a:xfrm>
          <a:prstGeom prst="roundRect">
            <a:avLst>
              <a:gd name="adj" fmla="val 5085"/>
            </a:avLst>
          </a:prstGeom>
          <a:solidFill>
            <a:srgbClr val="111827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70064" y="297180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70064" y="33558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prix × ventes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36608" y="2788920"/>
            <a:ext cx="1965960" cy="1078992"/>
          </a:xfrm>
          <a:prstGeom prst="roundRect">
            <a:avLst>
              <a:gd name="adj" fmla="val 5085"/>
            </a:avLst>
          </a:prstGeom>
          <a:solidFill>
            <a:srgbClr val="111827"/>
          </a:solidFill>
          <a:ln w="1651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46336" y="297180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Z-score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546336" y="33558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Python / pandas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97480" y="3127248"/>
            <a:ext cx="210312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73752" y="3127248"/>
            <a:ext cx="210312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50024" y="3127248"/>
            <a:ext cx="210312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26296" y="3127248"/>
            <a:ext cx="210312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17152" y="4096512"/>
            <a:ext cx="274320" cy="475488"/>
          </a:xfrm>
          <a:prstGeom prst="down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0" y="4681728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34D399">
              <a:alpha val="10000"/>
            </a:srgbClr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4919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</a:rPr>
              <a:t>outputs/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046720" y="530352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Excel + 2 CSV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9808" y="4617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Contrôles après chaque étape critique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2960" y="4983480"/>
            <a:ext cx="393192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manquantes exploitables</a:t>
            </a:r>
            <a:endParaRPr lang="en-US" sz="1150" dirty="0"/>
          </a:p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Doublons</a:t>
            </a:r>
            <a:endParaRPr lang="en-US" sz="1150" dirty="0"/>
          </a:p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Cohérence de la jointure</a:t>
            </a:r>
            <a:endParaRPr lang="en-US" sz="1150" dirty="0"/>
          </a:p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Cohérence du chiffre d’affaires</a:t>
            </a:r>
            <a:endParaRPr lang="en-US" sz="1150" dirty="0"/>
          </a:p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Cohérence du z-score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74920" y="4590288"/>
            <a:ext cx="2240280" cy="1207008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85232" y="4818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Planification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285232" y="5230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15 du mois • 09:00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Ingestion flexible et qualité des données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pipeline s’adapte aux fichiers réels sans adapter la logique aux résultats attendus.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ACC15">
              <a:alpha val="18000"/>
            </a:srgbClr>
          </a:solidFill>
          <a:ln w="12700">
            <a:solidFill>
              <a:srgbClr val="FACC15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QUALITÉ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180000000000000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17320"/>
            <a:ext cx="54864" cy="2057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60020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Identification automatique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1984248"/>
            <a:ext cx="3081528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</a:rPr>
              <a:t>ERP, liaison et Web sont reconnus à partir des colonnes obligatoires. Les colonnes supplémentaires sont ignorées.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370832" y="14173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1.8e+2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417320"/>
            <a:ext cx="54864" cy="205740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0020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Valeurs manquantes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1984248"/>
            <a:ext cx="3081528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</a:rPr>
              <a:t>Une liaison sans id_web ou un produit Web sans SKU peut être non joignable sans être une erreur bloquante.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055864" y="14173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1.8e+2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55864" y="1417320"/>
            <a:ext cx="54864" cy="2057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160020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Contrôles dynamiques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57032" y="1984248"/>
            <a:ext cx="3081528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</a:rPr>
              <a:t>Les assertions portent sur la cohérence des données exploitables, pas sur un nombre fixe de lignes ou un CA attendu.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685800" y="3886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Contrôles intégrés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13232" y="4434840"/>
            <a:ext cx="1901952" cy="1051560"/>
          </a:xfrm>
          <a:prstGeom prst="roundRect">
            <a:avLst>
              <a:gd name="adj" fmla="val 5217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617720"/>
            <a:ext cx="457200" cy="384048"/>
          </a:xfrm>
          <a:prstGeom prst="roundRect">
            <a:avLst>
              <a:gd name="adj" fmla="val 9524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7183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01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99032" y="4599432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8FAFC"/>
                </a:solidFill>
              </a:rPr>
              <a:t>Valeurs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F8FAFC"/>
                </a:solidFill>
              </a:rPr>
              <a:t>manquantes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2907792" y="4434840"/>
            <a:ext cx="1901952" cy="1051560"/>
          </a:xfrm>
          <a:prstGeom prst="roundRect">
            <a:avLst>
              <a:gd name="adj" fmla="val 5217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4617720"/>
            <a:ext cx="457200" cy="384048"/>
          </a:xfrm>
          <a:prstGeom prst="roundRect">
            <a:avLst>
              <a:gd name="adj" fmla="val 9524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47183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02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93592" y="4599432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8FAFC"/>
                </a:solidFill>
              </a:rPr>
              <a:t>Doublons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102352" y="4434840"/>
            <a:ext cx="1901952" cy="1051560"/>
          </a:xfrm>
          <a:prstGeom prst="roundRect">
            <a:avLst>
              <a:gd name="adj" fmla="val 5217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4617720"/>
            <a:ext cx="457200" cy="384048"/>
          </a:xfrm>
          <a:prstGeom prst="roundRect">
            <a:avLst>
              <a:gd name="adj" fmla="val 9524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47183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03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88152" y="4599432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8FAFC"/>
                </a:solidFill>
              </a:rPr>
              <a:t>Jointure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7296912" y="4434840"/>
            <a:ext cx="1901952" cy="1051560"/>
          </a:xfrm>
          <a:prstGeom prst="roundRect">
            <a:avLst>
              <a:gd name="adj" fmla="val 5217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4617720"/>
            <a:ext cx="457200" cy="384048"/>
          </a:xfrm>
          <a:prstGeom prst="roundRect">
            <a:avLst>
              <a:gd name="adj" fmla="val 9524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47183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04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82712" y="4599432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8FAFC"/>
                </a:solidFill>
              </a:rPr>
              <a:t>Chiffre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F8FAFC"/>
                </a:solidFill>
              </a:rPr>
              <a:t>d’affaires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9491472" y="4434840"/>
            <a:ext cx="1901952" cy="1051560"/>
          </a:xfrm>
          <a:prstGeom prst="roundRect">
            <a:avLst>
              <a:gd name="adj" fmla="val 5217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0" y="4617720"/>
            <a:ext cx="457200" cy="384048"/>
          </a:xfrm>
          <a:prstGeom prst="roundRect">
            <a:avLst>
              <a:gd name="adj" fmla="val 9524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0" y="47183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05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177272" y="4599432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8FAFC"/>
                </a:solidFill>
              </a:rPr>
              <a:t>Z-score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Orchestration Kestra validée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flow final exécute 20 tâches avec succès.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KES TRA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325880"/>
            <a:ext cx="8275320" cy="4800600"/>
          </a:xfrm>
          <a:prstGeom prst="roundRect">
            <a:avLst>
              <a:gd name="adj" fmla="val 1143"/>
            </a:avLst>
          </a:prstGeom>
          <a:solidFill>
            <a:srgbClr val="0F172A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1.7999999999999998e+34"/>
              </a:srgbClr>
            </a:outerShdw>
          </a:effectLst>
        </p:spPr>
      </p:sp>
      <p:pic>
        <p:nvPicPr>
          <p:cNvPr id="7" name="Image 0" descr="/mnt/data/kestra_execution_success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1301" y="1380744"/>
            <a:ext cx="4989453" cy="46908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235440" y="15087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1.8e+39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372600" y="16733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</a:rPr>
              <a:t>20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345168" y="225856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tâches réussies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35440" y="315468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1.8e+44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33192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</a:rPr>
              <a:t>43,6 s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345168" y="390448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durée observée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235440" y="4800600"/>
            <a:ext cx="2148840" cy="118872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72600" y="5102352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D399"/>
                </a:solidFill>
              </a:rPr>
              <a:t>SUCCESS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372600" y="5504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94A3B8"/>
                </a:solidFill>
              </a:rPr>
              <a:t>publication incluse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Résultats de validation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jeux différents ont confirmé que le pipeline n’est pas spécifique à un seul fichier.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VALIDATION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Jeu CSV de test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1.8e+4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</a:rPr>
              <a:t>48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95528" y="2532888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produits fusionnés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1.8e+5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9476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</a:rPr>
              <a:t>5 443,70 €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10128" y="2532888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chiffre d’affaires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15000" y="17830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1.8000000000000001e+5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19476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24728" y="2532888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premium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1.8e+6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19476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CC15"/>
                </a:solidFill>
              </a:rPr>
              <a:t>45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39328" y="2532888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ordinaires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33101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Jeu de référence Octave XLSX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85800" y="373075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1.8e+69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38953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</a:rPr>
              <a:t>714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produits fusionnés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0" y="373075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1.8000000000000002e+74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37560" y="38953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</a:rPr>
              <a:t>70 568,60 €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310128" y="448056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chiffre d’affaires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15000" y="373075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1.8000000000000003e+79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52160" y="38953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30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824728" y="448056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premium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373075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1.8000000000000004e+84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66760" y="38953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CC15"/>
                </a:solidFill>
              </a:rPr>
              <a:t>684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339328" y="448056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ordinaires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3232" y="5330952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i="1" dirty="0">
                <a:solidFill>
                  <a:srgbClr val="94A3B8"/>
                </a:solidFill>
              </a:rPr>
              <a:t>Les valeurs Octave servent uniquement de référence de régression ; elles ne sont pas des assertions de production.</a:t>
            </a:r>
            <a:endParaRPr lang="en-US" sz="1240" dirty="0"/>
          </a:p>
        </p:txBody>
      </p:sp>
      <p:sp>
        <p:nvSpPr>
          <p:cNvPr id="33" name="Text 31"/>
          <p:cNvSpPr/>
          <p:nvPr/>
        </p:nvSpPr>
        <p:spPr>
          <a:xfrm>
            <a:off x="713232" y="58064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Anomalies non bloquantes observées : 91 liaisons sans id_web • 2 produits Web sans SKU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Preuves de sortie et traçabilité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résultats sont journalisés dans Kestra et écrits physiquement dans outputs/.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LIVRABLES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371600"/>
            <a:ext cx="6629400" cy="233172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1.8000000000000005e+89"/>
              </a:srgbClr>
            </a:outerShdw>
          </a:effectLst>
        </p:spPr>
      </p:sp>
      <p:pic>
        <p:nvPicPr>
          <p:cNvPr id="7" name="Image 0" descr="/mnt/data/kestra_resul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45597"/>
            <a:ext cx="6519672" cy="15837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3977640"/>
            <a:ext cx="6629400" cy="1737360"/>
          </a:xfrm>
          <a:prstGeom prst="roundRect">
            <a:avLst>
              <a:gd name="adj" fmla="val 3158"/>
            </a:avLst>
          </a:prstGeom>
          <a:solidFill>
            <a:srgbClr val="0F172A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1.8000000000000007e+94"/>
              </a:srgbClr>
            </a:outerShdw>
          </a:effectLst>
        </p:spPr>
      </p:sp>
      <p:pic>
        <p:nvPicPr>
          <p:cNvPr id="9" name="Image 1" descr="/mnt/data/outputs_gene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176" y="4032504"/>
            <a:ext cx="5171783" cy="16276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35240" y="1371600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1.8000000000000008e+99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635240" y="1371600"/>
            <a:ext cx="54864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36408" y="1554480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chiffre_affaires.xlsx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836408" y="1938528"/>
            <a:ext cx="34472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</a:rPr>
              <a:t>Deux feuilles : CA_par_produit et CA_total.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7635240" y="2816352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00000">
                <a:alpha val="1.800000000000001e+104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35240" y="2816352"/>
            <a:ext cx="54864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36408" y="2999232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vins_premium.csv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836408" y="3383280"/>
            <a:ext cx="34472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</a:rPr>
              <a:t>Produits dont le z-score est strictement supérieur à 2.</a:t>
            </a:r>
            <a:endParaRPr lang="en-US" sz="1130" dirty="0"/>
          </a:p>
        </p:txBody>
      </p:sp>
      <p:sp>
        <p:nvSpPr>
          <p:cNvPr id="18" name="Shape 14"/>
          <p:cNvSpPr/>
          <p:nvPr/>
        </p:nvSpPr>
        <p:spPr>
          <a:xfrm>
            <a:off x="7635240" y="4261104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00000">
                <a:alpha val="1.800000000000001e+109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635240" y="4261104"/>
            <a:ext cx="54864" cy="128016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836408" y="4443984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vins_ordinaires.csv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836408" y="4828032"/>
            <a:ext cx="34472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</a:rPr>
              <a:t>Produits dont le z-score est inférieur ou égal à 2.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Robustesse et exploitation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pipeline gère les échecs et se lance avec une seule commande.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</a:rPr>
              <a:t>ROBUSTESSE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0F172A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00000">
                <a:alpha val="1.800000000000001e+114"/>
              </a:srgbClr>
            </a:outerShdw>
          </a:effectLst>
        </p:spPr>
      </p:sp>
      <p:pic>
        <p:nvPicPr>
          <p:cNvPr id="7" name="Image 0" descr="/mnt/data/kestra_test-retrylogs(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741884"/>
            <a:ext cx="6291072" cy="4105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60920" y="14813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Gestion d’erreur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60920" y="1938528"/>
            <a:ext cx="388620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5928" indent="-185928">
              <a:buSzPct val="100000"/>
              <a:buChar char="•"/>
            </a:pPr>
            <a:r>
              <a:rPr lang="en-US" sz="122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jusqu’à 3 tentatives sur les tâches Python critiques.</a:t>
            </a:r>
            <a:endParaRPr lang="en-US" sz="1220" dirty="0"/>
          </a:p>
          <a:p>
            <a:pPr marL="185928" indent="-185928">
              <a:buSzPct val="100000"/>
              <a:buChar char="•"/>
            </a:pPr>
            <a:r>
              <a:rPr lang="en-US" sz="122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global en cas d’échec.</a:t>
            </a:r>
            <a:endParaRPr lang="en-US" sz="1220" dirty="0"/>
          </a:p>
          <a:p>
            <a:pPr marL="185928" indent="-185928">
              <a:buSzPct val="100000"/>
              <a:buChar char="•"/>
            </a:pPr>
            <a:r>
              <a:rPr lang="en-US" sz="122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run.ps1 affiche les logs ERROR si Kestra échoue.</a:t>
            </a:r>
            <a:endParaRPr lang="en-US" sz="1220" dirty="0"/>
          </a:p>
          <a:p>
            <a:pPr marL="185928" indent="-185928">
              <a:buSzPct val="100000"/>
              <a:buChar char="•"/>
            </a:pPr>
            <a:r>
              <a:rPr lang="en-US" sz="122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volumes Docker ne sont pas supprimés.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7360920" y="4389120"/>
            <a:ext cx="3886200" cy="1417320"/>
          </a:xfrm>
          <a:prstGeom prst="roundRect">
            <a:avLst>
              <a:gd name="adj" fmla="val 4516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0" y="46360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Commande d’exploitation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89520" y="50749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4D399"/>
                </a:solidFill>
              </a:rPr>
              <a:t>.\run.ps1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Bilan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pipeline mensuel automatisé, reproductible et contrôlé.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CONCLUSION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00000">
                <a:alpha val="1.800000000000001e+11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17320"/>
            <a:ext cx="54864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60020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Automatisation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1984248"/>
            <a:ext cx="303580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</a:rPr>
              <a:t>Exécution manuelle ou planifiée, déploiement du flow et publication des livrables.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407408" y="141732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00000">
                <a:alpha val="1.800000000000001e+12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7408" y="1417320"/>
            <a:ext cx="54864" cy="1874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60020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Fiabilité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8576" y="1984248"/>
            <a:ext cx="303580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</a:rPr>
              <a:t>Contrôles dynamiques après chaque étape critique et gestion explicite des erreurs.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129016" y="141732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00000">
                <a:alpha val="1.800000000000001e+12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29016" y="1417320"/>
            <a:ext cx="54864" cy="1874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60020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Reproductibilité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0184" y="1984248"/>
            <a:ext cx="303580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</a:rPr>
              <a:t>Docker Compose, versions figées, scripts SQL/Python séparés et run.ps1.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85800" y="3794760"/>
            <a:ext cx="10826496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087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Résultat final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23160" y="4023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CSV + XLSX → Kestra SUCCESS → 3 livrables dans outputs/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148840" y="46817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94A3B8"/>
                </a:solidFill>
              </a:rPr>
              <a:t>Le projet peut être relancé chaque mois en remplaçant simplement les trois sources dans data/.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685800" y="57424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Merci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51460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Questions 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Projet data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Comptoir des Coteaux — Pipeline Kestra</dc:title>
  <dc:subject>Présentation du pipeline Kestra - Comptoir des Coteaux</dc:subject>
  <dc:creator>OpenAI</dc:creator>
  <cp:lastModifiedBy>OpenAI</cp:lastModifiedBy>
  <cp:revision>1</cp:revision>
  <dcterms:created xsi:type="dcterms:W3CDTF">2026-09-26T18:33:37Z</dcterms:created>
  <dcterms:modified xsi:type="dcterms:W3CDTF">2026-09-26T18:33:37Z</dcterms:modified>
</cp:coreProperties>
</file>